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LS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778693-3A38-1540-A2BE-EADEC66B39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Calibri" panose="020F0502020204030204" pitchFamily="34" charset="0"/>
            </a:endParaRP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332D703C-206C-9013-9F25-15D75630A722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552244" y="2867524"/>
            <a:ext cx="10958652" cy="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chemeClr val="bg1"/>
                </a:gs>
                <a:gs pos="64000">
                  <a:srgbClr val="7AB51D"/>
                </a:gs>
              </a:gsLst>
              <a:lin ang="10800000" scaled="1"/>
              <a:tileRect/>
            </a:gradFill>
            <a:miter lim="800000"/>
            <a:headEnd/>
            <a:tailEnd/>
          </a:ln>
          <a:effectLst>
            <a:softEdge rad="0"/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defRPr/>
            </a:pPr>
            <a:endParaRPr lang="en-US" sz="1266" b="1">
              <a:latin typeface="Calibri" panose="020F0502020204030204" pitchFamily="34" charset="0"/>
            </a:endParaRP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5112925D-60A9-ED3F-9E7E-67890E2D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67870" y="4926526"/>
            <a:ext cx="1968195" cy="1931474"/>
          </a:xfrm>
          <a:prstGeom prst="rect">
            <a:avLst/>
          </a:prstGeom>
        </p:spPr>
      </p:pic>
      <p:pic>
        <p:nvPicPr>
          <p:cNvPr id="6" name="Picture 11" descr="A blue and black rectangles&#10;&#10;Description automatically generated with low confidence">
            <a:extLst>
              <a:ext uri="{FF2B5EF4-FFF2-40B4-BE49-F238E27FC236}">
                <a16:creationId xmlns:a16="http://schemas.microsoft.com/office/drawing/2014/main" id="{095E8400-2D38-B2FA-8821-543D2A73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44" y="5780200"/>
            <a:ext cx="1538189" cy="799137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FCB1B460-9C8E-CB6C-D0E4-7CC22E8E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88" y="1787523"/>
            <a:ext cx="11520000" cy="1080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4C5DFDD-7F34-717D-AEF3-A18C4F2AB5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94188" y="2972414"/>
            <a:ext cx="11520000" cy="312936"/>
          </a:xfrm>
        </p:spPr>
        <p:txBody>
          <a:bodyPr>
            <a:noAutofit/>
          </a:bodyPr>
          <a:lstStyle>
            <a:lvl1pPr marL="0" indent="0">
              <a:buNone/>
              <a:defRPr sz="2000" i="1">
                <a:latin typeface="+mn-lt"/>
              </a:defRPr>
            </a:lvl1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6447E8E3-03B3-CD18-A5BB-BDEE17125F7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4188" y="3325925"/>
            <a:ext cx="11520000" cy="312936"/>
          </a:xfrm>
        </p:spPr>
        <p:txBody>
          <a:bodyPr>
            <a:noAutofit/>
          </a:bodyPr>
          <a:lstStyle>
            <a:lvl1pPr marL="0" indent="0">
              <a:buNone/>
              <a:defRPr sz="2000" i="0">
                <a:latin typeface="+mn-lt"/>
              </a:defRPr>
            </a:lvl1pPr>
          </a:lstStyle>
          <a:p>
            <a:pPr lvl="0"/>
            <a:r>
              <a:rPr lang="de-DE" dirty="0"/>
              <a:t>Date</a:t>
            </a:r>
          </a:p>
        </p:txBody>
      </p:sp>
      <p:sp>
        <p:nvSpPr>
          <p:cNvPr id="12" name="Inhaltsplatzhalter 9">
            <a:extLst>
              <a:ext uri="{FF2B5EF4-FFF2-40B4-BE49-F238E27FC236}">
                <a16:creationId xmlns:a16="http://schemas.microsoft.com/office/drawing/2014/main" id="{90B7E13C-6AED-A96A-DFFD-29A7DF10E4E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94188" y="4297363"/>
            <a:ext cx="11520000" cy="312936"/>
          </a:xfrm>
        </p:spPr>
        <p:txBody>
          <a:bodyPr>
            <a:noAutofit/>
          </a:bodyPr>
          <a:lstStyle>
            <a:lvl1pPr marL="0" indent="0">
              <a:buNone/>
              <a:defRPr sz="2000" i="0">
                <a:latin typeface="+mn-lt"/>
              </a:defRPr>
            </a:lvl1pPr>
          </a:lstStyle>
          <a:p>
            <a:pPr lvl="0"/>
            <a:r>
              <a:rPr lang="de-DE" dirty="0" err="1"/>
              <a:t>Your</a:t>
            </a:r>
            <a:r>
              <a:rPr lang="de-DE" dirty="0"/>
              <a:t> 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EA38894-2CF7-EB1B-6E8A-7395C31C1928}"/>
              </a:ext>
            </a:extLst>
          </p:cNvPr>
          <p:cNvSpPr txBox="1"/>
          <p:nvPr/>
        </p:nvSpPr>
        <p:spPr>
          <a:xfrm>
            <a:off x="494188" y="4618947"/>
            <a:ext cx="115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Learning Systems and Robotics Laboratory</a:t>
            </a:r>
          </a:p>
        </p:txBody>
      </p:sp>
    </p:spTree>
    <p:extLst>
      <p:ext uri="{BB962C8B-B14F-4D97-AF65-F5344CB8AC3E}">
        <p14:creationId xmlns:p14="http://schemas.microsoft.com/office/powerpoint/2010/main" val="351466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_Ch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778693-3A38-1540-A2BE-EADEC66B39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Calibri" panose="020F0502020204030204" pitchFamily="34" charset="0"/>
            </a:endParaRP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332D703C-206C-9013-9F25-15D75630A722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552244" y="2867524"/>
            <a:ext cx="10958652" cy="0"/>
          </a:xfrm>
          <a:prstGeom prst="line">
            <a:avLst/>
          </a:prstGeom>
          <a:noFill/>
          <a:ln w="38100">
            <a:gradFill flip="none" rotWithShape="1">
              <a:gsLst>
                <a:gs pos="0">
                  <a:schemeClr val="bg1"/>
                </a:gs>
                <a:gs pos="64000">
                  <a:srgbClr val="7AB51D"/>
                </a:gs>
              </a:gsLst>
              <a:lin ang="10800000" scaled="1"/>
              <a:tileRect/>
            </a:gradFill>
            <a:miter lim="800000"/>
            <a:headEnd/>
            <a:tailEnd/>
          </a:ln>
          <a:effectLst>
            <a:softEdge rad="0"/>
          </a:effectLst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defRPr/>
            </a:pPr>
            <a:endParaRPr lang="en-US" sz="1266" b="1">
              <a:latin typeface="Calibri" panose="020F0502020204030204" pitchFamily="34" charset="0"/>
            </a:endParaRP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5112925D-60A9-ED3F-9E7E-67890E2D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67870" y="4926526"/>
            <a:ext cx="1968195" cy="1931474"/>
          </a:xfrm>
          <a:prstGeom prst="rect">
            <a:avLst/>
          </a:prstGeom>
        </p:spPr>
      </p:pic>
      <p:pic>
        <p:nvPicPr>
          <p:cNvPr id="6" name="Picture 11" descr="A blue and black rectangles&#10;&#10;Description automatically generated with low confidence">
            <a:extLst>
              <a:ext uri="{FF2B5EF4-FFF2-40B4-BE49-F238E27FC236}">
                <a16:creationId xmlns:a16="http://schemas.microsoft.com/office/drawing/2014/main" id="{095E8400-2D38-B2FA-8821-543D2A73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44" y="5780200"/>
            <a:ext cx="1538189" cy="799137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FCB1B460-9C8E-CB6C-D0E4-7CC22E8E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88" y="1787523"/>
            <a:ext cx="11520000" cy="1080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4C5DFDD-7F34-717D-AEF3-A18C4F2AB5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94188" y="2972414"/>
            <a:ext cx="11520000" cy="312936"/>
          </a:xfrm>
        </p:spPr>
        <p:txBody>
          <a:bodyPr>
            <a:noAutofit/>
          </a:bodyPr>
          <a:lstStyle>
            <a:lvl1pPr marL="0" indent="0">
              <a:buNone/>
              <a:defRPr sz="2000" i="1">
                <a:latin typeface="+mn-lt"/>
              </a:defRPr>
            </a:lvl1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6447E8E3-03B3-CD18-A5BB-BDEE17125F7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4188" y="3325925"/>
            <a:ext cx="11520000" cy="312936"/>
          </a:xfrm>
        </p:spPr>
        <p:txBody>
          <a:bodyPr>
            <a:noAutofit/>
          </a:bodyPr>
          <a:lstStyle>
            <a:lvl1pPr marL="0" indent="0">
              <a:buNone/>
              <a:defRPr sz="2000" i="0">
                <a:latin typeface="+mn-lt"/>
              </a:defRPr>
            </a:lvl1pPr>
          </a:lstStyle>
          <a:p>
            <a:pPr lvl="0"/>
            <a:r>
              <a:rPr lang="de-DE" dirty="0"/>
              <a:t>Date</a:t>
            </a:r>
          </a:p>
        </p:txBody>
      </p:sp>
      <p:sp>
        <p:nvSpPr>
          <p:cNvPr id="12" name="Inhaltsplatzhalter 9">
            <a:extLst>
              <a:ext uri="{FF2B5EF4-FFF2-40B4-BE49-F238E27FC236}">
                <a16:creationId xmlns:a16="http://schemas.microsoft.com/office/drawing/2014/main" id="{90B7E13C-6AED-A96A-DFFD-29A7DF10E4E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94188" y="4297363"/>
            <a:ext cx="11520000" cy="312936"/>
          </a:xfrm>
        </p:spPr>
        <p:txBody>
          <a:bodyPr>
            <a:noAutofit/>
          </a:bodyPr>
          <a:lstStyle>
            <a:lvl1pPr marL="0" indent="0">
              <a:buNone/>
              <a:defRPr sz="2000" i="0">
                <a:latin typeface="+mn-lt"/>
              </a:defRPr>
            </a:lvl1pPr>
          </a:lstStyle>
          <a:p>
            <a:pPr lvl="0"/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Prof. Dr. Angela Schoellig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EA38894-2CF7-EB1B-6E8A-7395C31C1928}"/>
              </a:ext>
            </a:extLst>
          </p:cNvPr>
          <p:cNvSpPr txBox="1"/>
          <p:nvPr/>
        </p:nvSpPr>
        <p:spPr>
          <a:xfrm>
            <a:off x="494188" y="4614940"/>
            <a:ext cx="115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Chair of Safety, Performance and Reliability for Learning Systems</a:t>
            </a:r>
            <a:b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School of Computation, Information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134590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778693-3A38-1540-A2BE-EADEC66B3949}"/>
              </a:ext>
            </a:extLst>
          </p:cNvPr>
          <p:cNvSpPr/>
          <p:nvPr/>
        </p:nvSpPr>
        <p:spPr>
          <a:xfrm>
            <a:off x="0" y="0"/>
            <a:ext cx="12192000" cy="1487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>
              <a:latin typeface="Calibri" panose="020F0502020204030204" pitchFamily="34" charset="0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FCB1B460-9C8E-CB6C-D0E4-7CC22E8E0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0" y="2679032"/>
            <a:ext cx="11520000" cy="63365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DD6D1FA6-8B2F-A650-E3C1-3CFCAF993D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588" y="6223000"/>
            <a:ext cx="10729912" cy="635000"/>
          </a:xfrm>
        </p:spPr>
        <p:txBody>
          <a:bodyPr numCol="3">
            <a:noAutofit/>
          </a:bodyPr>
          <a:lstStyle>
            <a:lvl1pPr marL="0" indent="0"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45219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7">
            <a:extLst>
              <a:ext uri="{FF2B5EF4-FFF2-40B4-BE49-F238E27FC236}">
                <a16:creationId xmlns:a16="http://schemas.microsoft.com/office/drawing/2014/main" id="{AB2AEF6E-29D7-0603-5866-B8D5A2645D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588" y="6223000"/>
            <a:ext cx="10729912" cy="635000"/>
          </a:xfrm>
        </p:spPr>
        <p:txBody>
          <a:bodyPr numCol="3">
            <a:noAutofit/>
          </a:bodyPr>
          <a:lstStyle>
            <a:lvl1pPr marL="0" indent="0"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40414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8BBB40A-34ED-977B-6896-AA360A4D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05" y="727962"/>
            <a:ext cx="10515600" cy="419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>
                <a:solidFill>
                  <a:schemeClr val="tx1">
                    <a:lumMod val="75000"/>
                    <a:lumOff val="25000"/>
                  </a:schemeClr>
                </a:solidFill>
                <a:latin typeface="Oswald" panose="00000500000000000000" pitchFamily="2" charset="0"/>
              </a:rPr>
              <a:t>Mastertitelformat bearbeiten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swald" panose="00000500000000000000" pitchFamily="2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05364FF8-4533-422D-5E3A-8BB4DECB69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1372" y="1350963"/>
            <a:ext cx="10056815" cy="47783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30D7BA6-D517-500C-42CE-5F7DF509BA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588" y="6223000"/>
            <a:ext cx="10729912" cy="635000"/>
          </a:xfrm>
        </p:spPr>
        <p:txBody>
          <a:bodyPr numCol="3">
            <a:noAutofit/>
          </a:bodyPr>
          <a:lstStyle>
            <a:lvl1pPr marL="0" indent="0"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Sources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8285C1BE-97B3-A3EE-FF6E-5A49E23F14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599" y="385065"/>
            <a:ext cx="10515599" cy="419804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 ExtraLight" panose="000003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de-DE" err="1"/>
              <a:t>Sectiontitle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200C05F-8EC2-CE99-743A-0CC8BB7D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05" y="727962"/>
            <a:ext cx="10515600" cy="419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>
                <a:solidFill>
                  <a:schemeClr val="tx1">
                    <a:lumMod val="75000"/>
                    <a:lumOff val="25000"/>
                  </a:schemeClr>
                </a:solidFill>
                <a:latin typeface="Oswald" panose="00000500000000000000" pitchFamily="2" charset="0"/>
              </a:rPr>
              <a:t>Mastertitelformat bearbeiten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swald" panose="00000500000000000000" pitchFamily="2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A840236-F352-AB01-99DD-BF5E75C97C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1373" y="1350963"/>
            <a:ext cx="4802189" cy="47790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06FCA2AE-4E9A-9E36-3148-3F4D8F50D1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1350963"/>
            <a:ext cx="4802188" cy="477907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D5F8ED99-64E0-0F9D-F602-1EF68AEAC1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599" y="385065"/>
            <a:ext cx="10515599" cy="419804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 ExtraLight" panose="00000300000000000000" pitchFamily="2" charset="0"/>
                <a:ea typeface="+mj-ea"/>
                <a:cs typeface="+mj-cs"/>
              </a:defRPr>
            </a:lvl1pPr>
          </a:lstStyle>
          <a:p>
            <a:pPr lvl="0"/>
            <a:r>
              <a:rPr lang="de-DE" dirty="0" err="1"/>
              <a:t>Sectiontitle</a:t>
            </a:r>
            <a:endParaRPr lang="en-US" dirty="0"/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389AF915-F8DC-714E-C7B9-AB70250478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588" y="6223000"/>
            <a:ext cx="10729912" cy="635000"/>
          </a:xfrm>
        </p:spPr>
        <p:txBody>
          <a:bodyPr numCol="3">
            <a:noAutofit/>
          </a:bodyPr>
          <a:lstStyle>
            <a:lvl1pPr marL="0" indent="0">
              <a:buNone/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de-DE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132120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0C6BB-F024-7B4F-A916-1E574B154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0568"/>
            <a:ext cx="10515600" cy="4886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E4E9B8-101E-8C40-885A-F55C07567F21}"/>
              </a:ext>
            </a:extLst>
          </p:cNvPr>
          <p:cNvCxnSpPr>
            <a:cxnSpLocks/>
          </p:cNvCxnSpPr>
          <p:nvPr/>
        </p:nvCxnSpPr>
        <p:spPr bwMode="auto">
          <a:xfrm>
            <a:off x="360000" y="1152000"/>
            <a:ext cx="10560078" cy="0"/>
          </a:xfrm>
          <a:prstGeom prst="line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 w="12700" cap="flat" cmpd="sng" algn="ctr">
            <a:solidFill>
              <a:srgbClr val="7AB51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AE2691-09BB-C647-9FCF-013218485002}"/>
              </a:ext>
            </a:extLst>
          </p:cNvPr>
          <p:cNvCxnSpPr>
            <a:cxnSpLocks/>
          </p:cNvCxnSpPr>
          <p:nvPr/>
        </p:nvCxnSpPr>
        <p:spPr bwMode="auto">
          <a:xfrm>
            <a:off x="360000" y="6226072"/>
            <a:ext cx="11520000" cy="0"/>
          </a:xfrm>
          <a:prstGeom prst="line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 w="12700" cap="flat" cmpd="sng" algn="ctr">
            <a:solidFill>
              <a:srgbClr val="7AB51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D9B11A88-1872-3E4D-8357-93920F91A5D7}"/>
              </a:ext>
            </a:extLst>
          </p:cNvPr>
          <p:cNvSpPr txBox="1">
            <a:spLocks/>
          </p:cNvSpPr>
          <p:nvPr/>
        </p:nvSpPr>
        <p:spPr>
          <a:xfrm>
            <a:off x="9330723" y="6389195"/>
            <a:ext cx="2585551" cy="365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5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AF2FF1-0F85-5948-B45D-85D15C7A6F9F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pPr/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B31D17-1F23-BC44-A237-A2155205E11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48"/>
          <a:stretch/>
        </p:blipFill>
        <p:spPr>
          <a:xfrm>
            <a:off x="10898505" y="322814"/>
            <a:ext cx="1203716" cy="8355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BDFEDE7-E7EF-BA56-C693-D677BAC4656F}"/>
              </a:ext>
            </a:extLst>
          </p:cNvPr>
          <p:cNvSpPr txBox="1">
            <a:spLocks/>
          </p:cNvSpPr>
          <p:nvPr/>
        </p:nvSpPr>
        <p:spPr>
          <a:xfrm>
            <a:off x="-429117" y="3401109"/>
            <a:ext cx="10858748" cy="442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swald" panose="00000500000000000000" pitchFamily="2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  <p:sp>
        <p:nvSpPr>
          <p:cNvPr id="5" name="Titelplatzhalter 4">
            <a:extLst>
              <a:ext uri="{FF2B5EF4-FFF2-40B4-BE49-F238E27FC236}">
                <a16:creationId xmlns:a16="http://schemas.microsoft.com/office/drawing/2014/main" id="{FF3EC424-F876-BDCD-A7C1-A5D874A0B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53" y="103805"/>
            <a:ext cx="10515600" cy="10545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9FEC449-540F-CE78-4CED-98FA8B5F921B}"/>
              </a:ext>
            </a:extLst>
          </p:cNvPr>
          <p:cNvSpPr txBox="1">
            <a:spLocks/>
          </p:cNvSpPr>
          <p:nvPr/>
        </p:nvSpPr>
        <p:spPr>
          <a:xfrm>
            <a:off x="6618082" y="6460048"/>
            <a:ext cx="4882281" cy="365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5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Your Name, Date</a:t>
            </a:r>
          </a:p>
          <a:p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Title</a:t>
            </a:r>
            <a:endParaRPr lang="en-US" sz="800" noProof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84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74" r:id="rId3"/>
    <p:sldLayoutId id="2147483671" r:id="rId4"/>
    <p:sldLayoutId id="2147483669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CC154C1-E8C8-1E02-253C-2423EA13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Progress </a:t>
            </a:r>
            <a:r>
              <a:rPr lang="de-DE" dirty="0" err="1"/>
              <a:t>Presentation</a:t>
            </a:r>
            <a:r>
              <a:rPr lang="de-DE" dirty="0"/>
              <a:t>: Guidelines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6E10B76-17B1-7B0B-951C-5AB9EC752B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1690" y="1351663"/>
            <a:ext cx="10056815" cy="4778375"/>
          </a:xfrm>
        </p:spPr>
        <p:txBody>
          <a:bodyPr>
            <a:noAutofit/>
          </a:bodyPr>
          <a:lstStyle/>
          <a:p>
            <a:r>
              <a:rPr lang="en-US" sz="1600" dirty="0"/>
              <a:t>The Progress Presentation </a:t>
            </a:r>
            <a:r>
              <a:rPr lang="en-US" sz="1600" b="1" dirty="0"/>
              <a:t>should include </a:t>
            </a:r>
            <a:r>
              <a:rPr lang="en-US" sz="1600" dirty="0"/>
              <a:t>the following elements:</a:t>
            </a:r>
          </a:p>
          <a:p>
            <a:pPr lvl="1"/>
            <a:r>
              <a:rPr lang="en-US" sz="1400" b="1" dirty="0"/>
              <a:t>1. Methodology / Approach (60% / 3 Slides)</a:t>
            </a:r>
            <a:br>
              <a:rPr lang="en-US" sz="1400" dirty="0"/>
            </a:br>
            <a:r>
              <a:rPr lang="en-US" sz="1400" dirty="0"/>
              <a:t>Explain the reasoning behind your approach: Use clear figures (e.g., block diagrams, illustrations) to summarize the core idea and show how it addresses the project challenges/ Why this method and not another?/ Key advantages &amp; limitations</a:t>
            </a:r>
          </a:p>
          <a:p>
            <a:pPr lvl="1"/>
            <a:r>
              <a:rPr lang="en-US" sz="1400" b="1" dirty="0"/>
              <a:t>2. Progress to Date (20% / 1 Slide)</a:t>
            </a:r>
            <a:br>
              <a:rPr lang="en-US" sz="1400" dirty="0"/>
            </a:br>
            <a:r>
              <a:rPr lang="en-US" sz="1400" dirty="0"/>
              <a:t>Describe what you have achieved so far: What is working already/ What didn’t work as expected/ Technical challenges you encountered along the way/ How and if you solved these challenges</a:t>
            </a:r>
          </a:p>
          <a:p>
            <a:pPr lvl="1"/>
            <a:r>
              <a:rPr lang="en-US" sz="1400" b="1" dirty="0"/>
              <a:t>3. Project Milestones and SMART Goals (20% / 1 Slide)</a:t>
            </a:r>
            <a:br>
              <a:rPr lang="en-US" sz="1400" dirty="0"/>
            </a:br>
            <a:r>
              <a:rPr lang="en-US" sz="1400" dirty="0"/>
              <a:t>Outline the plan for the rest of the semester: Specific milestones and SMART goals/ What should be finished when/ Who is responsible for each task (be explicit about task assignments)</a:t>
            </a:r>
          </a:p>
          <a:p>
            <a:r>
              <a:rPr lang="en-US" sz="1600" b="1" dirty="0"/>
              <a:t>Do not include </a:t>
            </a:r>
            <a:r>
              <a:rPr lang="en-US" sz="1600" dirty="0"/>
              <a:t>Information that is identical for all groups (e.g., the assignment description, race track details, the hardware, …)</a:t>
            </a:r>
          </a:p>
          <a:p>
            <a:r>
              <a:rPr lang="en-US" sz="1600" dirty="0"/>
              <a:t>The presentation should be </a:t>
            </a:r>
            <a:r>
              <a:rPr lang="en-US" sz="1600" b="1" dirty="0"/>
              <a:t>5 minutes long </a:t>
            </a:r>
            <a:r>
              <a:rPr lang="en-US" sz="1600" dirty="0"/>
              <a:t>and </a:t>
            </a:r>
            <a:r>
              <a:rPr lang="en-US" sz="1600" b="1" dirty="0"/>
              <a:t>all members should equally contribute to the presentation</a:t>
            </a:r>
            <a:r>
              <a:rPr lang="en-US" sz="1600" dirty="0"/>
              <a:t>. All members are required to attend this session. In case you need to present virtually, please notify us prior to the session.</a:t>
            </a:r>
          </a:p>
          <a:p>
            <a:r>
              <a:rPr lang="en-US" sz="1600" dirty="0"/>
              <a:t>You should use this slide deck as a template for your presentation. </a:t>
            </a:r>
            <a:r>
              <a:rPr lang="en-US" sz="1600" b="1" dirty="0"/>
              <a:t>Submission deadline on Moodle is the day before the presentations, 23:59 CET.</a:t>
            </a:r>
          </a:p>
          <a:p>
            <a:endParaRPr lang="en-US" sz="1400" dirty="0"/>
          </a:p>
          <a:p>
            <a:endParaRPr lang="de-DE" sz="140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CD9C344-768D-7996-AE2B-41BF9D8FE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FCBED8F5-22E9-CA7A-F907-D5D5C756F6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14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EE1622-0480-EB26-D5DA-6BA6C187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8A39F7-1821-4040-DB10-BFC97E4282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B39CB9-3823-D46C-78F2-7E2F21BCD5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79558C6-26F8-8038-AA1D-7EBBE4252C5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489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A78353C0-774F-FEDA-A19E-486D36591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B16E858-9BC9-58E2-2A5C-7E4F099841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0319F7D-8555-EC50-4BE6-F9E286D2BB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14F4106-8167-06AF-8A03-00FFFDD2D5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0934663"/>
      </p:ext>
    </p:extLst>
  </p:cSld>
  <p:clrMapOvr>
    <a:masterClrMapping/>
  </p:clrMapOvr>
</p:sld>
</file>

<file path=ppt/theme/theme1.xml><?xml version="1.0" encoding="utf-8"?>
<a:theme xmlns:a="http://schemas.openxmlformats.org/drawingml/2006/main" name="LSY_template_2025_v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Oswald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5875">
          <a:solidFill>
            <a:schemeClr val="bg1">
              <a:lumMod val="50000"/>
            </a:schemeClr>
          </a:solidFill>
          <a:prstDash val="dash"/>
          <a:headEnd type="oval" w="sm" len="sm"/>
          <a:tailEnd type="stealth" w="lg" len="lg"/>
        </a:ln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LSY_template_2025_v3" id="{72C4A47F-C597-453D-A4D8-A8C5A5E25664}" vid="{2B9D18F7-30E7-4838-8BA8-E950BFA62F8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LSY_template_2025_v3</Template>
  <TotalTime>47</TotalTime>
  <Words>264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Oswald</vt:lpstr>
      <vt:lpstr>Oswald ExtraLight</vt:lpstr>
      <vt:lpstr>LSY_template_2025_v3</vt:lpstr>
      <vt:lpstr>Progress Presentation: Guidelines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Rath</dc:creator>
  <cp:lastModifiedBy>Marcel Rath</cp:lastModifiedBy>
  <cp:revision>11</cp:revision>
  <dcterms:created xsi:type="dcterms:W3CDTF">2025-11-18T15:10:33Z</dcterms:created>
  <dcterms:modified xsi:type="dcterms:W3CDTF">2026-05-29T16:19:03Z</dcterms:modified>
</cp:coreProperties>
</file>